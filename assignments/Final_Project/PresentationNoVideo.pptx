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0"/>
  </p:notesMasterIdLst>
  <p:sldIdLst>
    <p:sldId id="265" r:id="rId2"/>
    <p:sldId id="289" r:id="rId3"/>
    <p:sldId id="290" r:id="rId4"/>
    <p:sldId id="294" r:id="rId5"/>
    <p:sldId id="295" r:id="rId6"/>
    <p:sldId id="296" r:id="rId7"/>
    <p:sldId id="297" r:id="rId8"/>
    <p:sldId id="29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99" d="100"/>
          <a:sy n="99" d="100"/>
        </p:scale>
        <p:origin x="192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1C4E47-7941-974E-8CCC-7CD17850D7AF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51E893-5B6A-A941-9277-07699B2C6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942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 class and professor Garcia. Scott Person here. </a:t>
            </a:r>
          </a:p>
          <a:p>
            <a:endParaRPr lang="en-US" dirty="0"/>
          </a:p>
          <a:p>
            <a:r>
              <a:rPr lang="en-US" dirty="0"/>
              <a:t>Home mortgages are one of the primary pathways for building wealth in the United States. They are heavily subsidized via the tax laws and lender support. Because we as a society invest and depend so much on these types of loans, they are also heavily regulated. The various banking regulating agencies collect data about mortgage applications and do a lot of analysis to ensure compliance with finance and anti-discrimination policies. One of the regulators' primary data sources is the Home Mortgage Disclosure Act data set. In this video we're going to be taking a look at a typical analytical question and analysis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1E893-5B6A-A941-9277-07699B2C6CF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3332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51E893-5B6A-A941-9277-07699B2C6CF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07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B12B5-10FA-A18C-97B2-6E38CEB2C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8C573D-6C0E-6791-8EE2-869E1FFA83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C5963-A37B-4147-F1D2-72421FED5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52C8E-8810-794C-9BA7-E1B7252ECFB9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64720D-3523-6188-08BC-EFF9EDF79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9186A-8962-FBFE-C889-30AA53E17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9414-B7AF-854D-B6CE-814918B50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532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A3CA9-56F9-73A9-F503-CC9F4504F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77AFF-6B33-731A-CB49-AF02CC326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122C0-DFC0-2D58-3223-645B048E3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52C8E-8810-794C-9BA7-E1B7252ECFB9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D6CD2-3637-D484-9136-AC4D7765D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18387-CCBA-8444-CC24-7BF17BD35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9414-B7AF-854D-B6CE-814918B50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865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FCEB2-607F-ED8D-BA29-E44163F9A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948B2-DF2D-C25B-FC37-406EC61A88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A3FAF5-954B-C905-CDB6-0119A1D53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52C8E-8810-794C-9BA7-E1B7252ECFB9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C7451-28C8-7E9D-7E31-D963470CF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F8B17-ADCC-3668-D14C-6BB97E876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9414-B7AF-854D-B6CE-814918B50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163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0B30D-5979-E5E9-0A6C-7BDA582D7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00E8B-9AFD-0225-E027-3729CF73D0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3A6DD0-D9F5-C053-0552-45935FF0E1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04F276-BF70-B746-73B7-C01DBF080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52C8E-8810-794C-9BA7-E1B7252ECFB9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5B6ED2-1955-694C-9714-1E8830A10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BCD6C1-2EA7-5013-4D17-4D5BCBCDC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9414-B7AF-854D-B6CE-814918B50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287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0216C-9C8E-6121-36FB-5654D7579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C14B39-0C9F-5296-977F-2C7FB1020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8F396C-3614-73BD-11D3-3B238AE1F5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0EADFF-DFE7-9F66-210D-4B9F205351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84FC1D-54B1-9BB5-B72B-121EBC5482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FD094D-E102-600A-FCC3-B14FC8983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52C8E-8810-794C-9BA7-E1B7252ECFB9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342F01-DD27-4B65-CFB3-07C765471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EB7722-2655-4690-EBDD-CD0F96BCC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9414-B7AF-854D-B6CE-814918B50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373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14C0D-EFE3-8F70-BED1-EFD5B54A8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C89B9A-FEDC-7C7E-1432-D850B9465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52C8E-8810-794C-9BA7-E1B7252ECFB9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9C294A-77D6-21EB-65A6-E8F1022B7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719599-3479-86ED-50A0-A5C152773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9414-B7AF-854D-B6CE-814918B50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429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D07E77-E76C-088D-4658-936109C85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52C8E-8810-794C-9BA7-E1B7252ECFB9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7F321E-964C-251C-6774-27FDC46AE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B1D462-AEFE-5D13-E51C-0EA743E40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9414-B7AF-854D-B6CE-814918B50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892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7B547-ED40-ED88-75DE-0302D1C6F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7F711-FF6B-5F78-950A-6B7AAC0CF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5AF16E-24DD-FE9D-D4B8-731BF418AD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C87D7C-233B-AD08-9EC4-796B825EF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52C8E-8810-794C-9BA7-E1B7252ECFB9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C874BC-A626-4498-56CE-5F5014DDA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CD5E6A-F087-78A8-86F8-4AFABBEAD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9414-B7AF-854D-B6CE-814918B50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129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F710E-1392-7A42-E606-D7D9FD83A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95FDB6-3139-DD3C-94BA-64F21B969C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5D6C52-C24B-153C-B204-13699F03B8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75151C-C712-BA0A-F337-91C93C570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52C8E-8810-794C-9BA7-E1B7252ECFB9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F16671-E098-3858-6B7D-1902B5111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CF0585-B723-0897-5E82-AE7B667E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9414-B7AF-854D-B6CE-814918B50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108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454CD-23F3-AB21-21F6-B0B7D3218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E88CD1-4874-18BC-FF09-FC9D37686D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39B8CF-6ED6-8B03-4115-51182915F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52C8E-8810-794C-9BA7-E1B7252ECFB9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32A2B7-EF5B-2AD9-6DE6-F83A5C3CA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2EDC0-900C-E12B-9610-3BF666820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9414-B7AF-854D-B6CE-814918B50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089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13EEF8-C02C-BED3-352A-E7529F2617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4DC407-786C-FEE4-C17D-946DFA44DC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4C0D95-D733-4FC8-C226-3116E3236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52C8E-8810-794C-9BA7-E1B7252ECFB9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A0A16-4362-6DA4-BA30-840353178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2CA1F-A826-6408-0DA8-508E449DB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79414-B7AF-854D-B6CE-814918B50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177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8BE3D0-9649-1225-161A-45FEFBC88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456888-295F-DD9E-8732-CBBF5E56BE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3640F-1743-BD4A-A773-119CF0118D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D52C8E-8810-794C-9BA7-E1B7252ECFB9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60334-5603-8BF3-AFC4-D7BE70BB37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D7202-F45C-ED98-6363-BCA99590B8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779414-B7AF-854D-B6CE-814918B50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858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3FE2E-2186-614D-94AC-E1295FCE2B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397000"/>
            <a:ext cx="10160000" cy="1905000"/>
          </a:xfrm>
        </p:spPr>
        <p:txBody>
          <a:bodyPr/>
          <a:lstStyle/>
          <a:p>
            <a:pPr algn="l"/>
            <a:r>
              <a:rPr lang="en-US" sz="3600" b="1" dirty="0"/>
              <a:t>Were home-purchase denials more common in lower-income Kansas neighborhoods?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DE5EA1-7DD8-6141-0CC9-31030D7A21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3556000"/>
            <a:ext cx="10160000" cy="2413000"/>
          </a:xfrm>
        </p:spPr>
        <p:txBody>
          <a:bodyPr/>
          <a:lstStyle/>
          <a:p>
            <a:pPr algn="l">
              <a:buNone/>
            </a:pPr>
            <a:r>
              <a:rPr lang="en-US" sz="1800" dirty="0">
                <a:solidFill>
                  <a:schemeClr val="tx2"/>
                </a:solidFill>
              </a:rPr>
              <a:t>Among Kansas home-purchase applications that received a lending decision in 2018–2025, were denial rates higher in census tracts below the area median income, even when comparing applicants in similar income bands?</a:t>
            </a:r>
          </a:p>
          <a:p>
            <a:pPr algn="l">
              <a:buNone/>
            </a:pPr>
            <a:endParaRPr lang="en-US" sz="1000" dirty="0"/>
          </a:p>
          <a:p>
            <a:pPr algn="l">
              <a:buNone/>
            </a:pPr>
            <a:r>
              <a:rPr lang="en-US" sz="1400" dirty="0">
                <a:solidFill>
                  <a:schemeClr val="tx2"/>
                </a:solidFill>
              </a:rPr>
              <a:t>Scott Person · DSCI 6883 · October 2026 · Source: FFIEC Home Mortgage Disclosure Act (HMDA) data, Kansas, 2018–2025. Unit is the application record, not the borrower.</a:t>
            </a:r>
          </a:p>
        </p:txBody>
      </p:sp>
    </p:spTree>
    <p:extLst>
      <p:ext uri="{BB962C8B-B14F-4D97-AF65-F5344CB8AC3E}">
        <p14:creationId xmlns:p14="http://schemas.microsoft.com/office/powerpoint/2010/main" val="3123395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2700"/>
    </mc:Choice>
    <mc:Fallback>
      <p:transition spd="slow" advTm="1027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63368-3284-C3F6-72CE-53A297671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55600"/>
            <a:ext cx="10972800" cy="1143000"/>
          </a:xfrm>
        </p:spPr>
        <p:txBody>
          <a:bodyPr wrap="square">
            <a:normAutofit/>
          </a:bodyPr>
          <a:lstStyle/>
          <a:p>
            <a:r>
              <a:rPr lang="en-US" dirty="0"/>
              <a:t>Below-median tracts: denials 2–3 points higher</a:t>
            </a:r>
          </a:p>
        </p:txBody>
      </p:sp>
      <p:sp>
        <p:nvSpPr>
          <p:cNvPr id="5" name="Commentary">
            <a:extLst>
              <a:ext uri="{FF2B5EF4-FFF2-40B4-BE49-F238E27FC236}">
                <a16:creationId xmlns:a16="http://schemas.microsoft.com/office/drawing/2014/main" id="{1DFE1D79-AD04-AB47-9990-6BCDBD3C8CBA}"/>
              </a:ext>
            </a:extLst>
          </p:cNvPr>
          <p:cNvSpPr txBox="1"/>
          <p:nvPr/>
        </p:nvSpPr>
        <p:spPr>
          <a:xfrm>
            <a:off x="8483600" y="1968500"/>
            <a:ext cx="3098800" cy="33547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28600" indent="-228600">
              <a:spcAft>
                <a:spcPts val="1200"/>
              </a:spcAft>
              <a:buFont typeface="Arial"/>
              <a:buChar char="•"/>
            </a:pPr>
            <a:r>
              <a:rPr lang="en-US" sz="1600" b="1" dirty="0"/>
              <a:t>Largest band: </a:t>
            </a:r>
            <a:r>
              <a:rPr lang="en-US" sz="1600" b="0" dirty="0"/>
              <a:t>$50,000–&lt;$100,000 applicants were denied </a:t>
            </a:r>
            <a:r>
              <a:rPr lang="en-US" sz="1600" b="1" dirty="0"/>
              <a:t>9.95%</a:t>
            </a:r>
            <a:r>
              <a:rPr lang="en-US" sz="1600" b="0" dirty="0"/>
              <a:t> of the time in below-median tracts (53,448 applications) vs </a:t>
            </a:r>
            <a:r>
              <a:rPr lang="en-US" sz="1600" b="1" dirty="0"/>
              <a:t>7.15%</a:t>
            </a:r>
            <a:r>
              <a:rPr lang="en-US" sz="1600" b="0" dirty="0"/>
              <a:t> at or above the median (75,120).</a:t>
            </a:r>
          </a:p>
          <a:p>
            <a:pPr marL="228600" indent="-228600">
              <a:spcAft>
                <a:spcPts val="1200"/>
              </a:spcAft>
              <a:buFont typeface="Arial"/>
              <a:buChar char="•"/>
            </a:pPr>
            <a:r>
              <a:rPr lang="en-US" sz="1600" b="0" dirty="0"/>
              <a:t>Gap is smallest in the under-$50,000 band (</a:t>
            </a:r>
            <a:r>
              <a:rPr lang="en-US" sz="1600" b="1" dirty="0"/>
              <a:t>2.07 points</a:t>
            </a:r>
            <a:r>
              <a:rPr lang="en-US" sz="1600" b="0" dirty="0"/>
              <a:t>) and largest at $100,000–&lt;$150,000 (</a:t>
            </a:r>
            <a:r>
              <a:rPr lang="en-US" sz="1600" b="1" dirty="0"/>
              <a:t>2.95 points</a:t>
            </a:r>
            <a:r>
              <a:rPr lang="en-US" sz="1600" b="0" dirty="0"/>
              <a:t>).</a:t>
            </a:r>
          </a:p>
          <a:p>
            <a:pPr marL="228600" indent="-228600">
              <a:spcAft>
                <a:spcPts val="1200"/>
              </a:spcAft>
              <a:buFont typeface="Arial"/>
              <a:buChar char="•"/>
            </a:pPr>
            <a:r>
              <a:rPr lang="en-US" sz="1600" b="0" dirty="0"/>
              <a:t>Shows </a:t>
            </a:r>
            <a:r>
              <a:rPr lang="en-US" sz="1600" b="1" dirty="0"/>
              <a:t>that</a:t>
            </a:r>
            <a:r>
              <a:rPr lang="en-US" sz="1600" b="0" dirty="0"/>
              <a:t> denials differed, not </a:t>
            </a:r>
            <a:r>
              <a:rPr lang="en-US" sz="1600" b="1" dirty="0"/>
              <a:t>why</a:t>
            </a:r>
            <a:r>
              <a:rPr lang="en-US" sz="1600" b="0" dirty="0"/>
              <a:t>.</a:t>
            </a:r>
          </a:p>
        </p:txBody>
      </p:sp>
      <p:sp>
        <p:nvSpPr>
          <p:cNvPr id="6" name="Footnote">
            <a:extLst>
              <a:ext uri="{FF2B5EF4-FFF2-40B4-BE49-F238E27FC236}">
                <a16:creationId xmlns:a16="http://schemas.microsoft.com/office/drawing/2014/main" id="{9B3EC6C8-E811-6C49-9AA8-151B01EA8531}"/>
              </a:ext>
            </a:extLst>
          </p:cNvPr>
          <p:cNvSpPr txBox="1"/>
          <p:nvPr/>
        </p:nvSpPr>
        <p:spPr>
          <a:xfrm>
            <a:off x="609600" y="5969000"/>
            <a:ext cx="10972800" cy="43088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</a:rPr>
              <a:t>313,643 Kansas home-purchase application records with a lending decision (approved, approved not accepted, or denied), reported applicant income, and a positive tract-to-area-median income percentage. Tract groups split at 100% of area median. Source: FFIEC HMDA 2018–2025; author's analysis.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801FE8-1D63-4D0B-B994-EA32A76FD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714500"/>
            <a:ext cx="7158181" cy="393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1033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9758"/>
    </mc:Choice>
    <mc:Fallback>
      <p:transition spd="slow" advTm="79758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4726F-65DE-E297-8CAD-2DBC3D100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55600"/>
            <a:ext cx="10972800" cy="1143000"/>
          </a:xfrm>
        </p:spPr>
        <p:txBody>
          <a:bodyPr>
            <a:normAutofit/>
          </a:bodyPr>
          <a:lstStyle/>
          <a:p>
            <a:r>
              <a:rPr lang="en-US" dirty="0"/>
              <a:t>The tract groups drew different applicant mixes</a:t>
            </a:r>
          </a:p>
        </p:txBody>
      </p:sp>
      <p:sp>
        <p:nvSpPr>
          <p:cNvPr id="3" name="Commentary">
            <a:extLst>
              <a:ext uri="{FF2B5EF4-FFF2-40B4-BE49-F238E27FC236}">
                <a16:creationId xmlns:a16="http://schemas.microsoft.com/office/drawing/2014/main" id="{DF4B71BD-7952-6E45-92CA-013C84ED3904}"/>
              </a:ext>
            </a:extLst>
          </p:cNvPr>
          <p:cNvSpPr txBox="1"/>
          <p:nvPr/>
        </p:nvSpPr>
        <p:spPr>
          <a:xfrm>
            <a:off x="8483600" y="1723799"/>
            <a:ext cx="3098800" cy="310854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28600" indent="-228600">
              <a:spcAft>
                <a:spcPts val="1200"/>
              </a:spcAft>
              <a:buFont typeface="Arial"/>
              <a:buChar char="•"/>
            </a:pPr>
            <a:r>
              <a:rPr lang="en-US" sz="1600" b="1" dirty="0"/>
              <a:t>Under $50,000 applicants: </a:t>
            </a:r>
            <a:r>
              <a:rPr lang="en-US" sz="1600" b="0" dirty="0"/>
              <a:t>35.08% of applications in below-median tracts vs 13.30% in tracts at or above the median.</a:t>
            </a:r>
          </a:p>
          <a:p>
            <a:pPr marL="228600" indent="-228600">
              <a:spcAft>
                <a:spcPts val="1200"/>
              </a:spcAft>
              <a:buFont typeface="Arial"/>
              <a:buChar char="•"/>
            </a:pPr>
            <a:r>
              <a:rPr lang="en-US" sz="1600" b="1" dirty="0"/>
              <a:t>$150,000 or more: </a:t>
            </a:r>
            <a:r>
              <a:rPr lang="en-US" sz="1600" b="0" dirty="0"/>
              <a:t>7.81% vs 23.55%.</a:t>
            </a:r>
          </a:p>
          <a:p>
            <a:pPr marL="228600" indent="-228600">
              <a:spcAft>
                <a:spcPts val="1200"/>
              </a:spcAft>
              <a:buFont typeface="Arial"/>
              <a:buChar char="•"/>
            </a:pPr>
            <a:r>
              <a:rPr lang="en-US" sz="1600" b="0" dirty="0"/>
              <a:t>Comparing within applicant-income bands makes the tract comparison more meaningful, though it does not control for every difference.</a:t>
            </a:r>
          </a:p>
        </p:txBody>
      </p:sp>
      <p:sp>
        <p:nvSpPr>
          <p:cNvPr id="4" name="Footnote">
            <a:extLst>
              <a:ext uri="{FF2B5EF4-FFF2-40B4-BE49-F238E27FC236}">
                <a16:creationId xmlns:a16="http://schemas.microsoft.com/office/drawing/2014/main" id="{551DE7A7-03E8-3E4A-B85C-C598F08E311A}"/>
              </a:ext>
            </a:extLst>
          </p:cNvPr>
          <p:cNvSpPr txBox="1"/>
          <p:nvPr/>
        </p:nvSpPr>
        <p:spPr>
          <a:xfrm>
            <a:off x="609600" y="5969000"/>
            <a:ext cx="109728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</a:rPr>
              <a:t>Shares are of application records within each tract group (313,643 retained records), not household-income statistics. Applicant income is the reported borrower income; tract income is the tract's percentage of the area median. Source: FFIEC HMDA 2018–2025; author's analysis.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D0475D-2C51-572F-80C7-57175863F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03797"/>
            <a:ext cx="7723095" cy="4247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273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8733"/>
    </mc:Choice>
    <mc:Fallback>
      <p:transition spd="slow" advTm="6873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23A2-9705-7697-CF9C-4599DC396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55600"/>
            <a:ext cx="10972800" cy="1143000"/>
          </a:xfrm>
        </p:spPr>
        <p:txBody>
          <a:bodyPr wrap="square"/>
          <a:lstStyle/>
          <a:p>
            <a:r>
              <a:rPr lang="en-US" dirty="0"/>
              <a:t>The gap holds at an 80% tract-income cutoff too</a:t>
            </a:r>
          </a:p>
        </p:txBody>
      </p:sp>
      <p:sp>
        <p:nvSpPr>
          <p:cNvPr id="5" name="Commentary">
            <a:extLst>
              <a:ext uri="{FF2B5EF4-FFF2-40B4-BE49-F238E27FC236}">
                <a16:creationId xmlns:a16="http://schemas.microsoft.com/office/drawing/2014/main" id="{ACA6CC1E-3E93-5147-A90E-952B13C1B83B}"/>
              </a:ext>
            </a:extLst>
          </p:cNvPr>
          <p:cNvSpPr txBox="1"/>
          <p:nvPr/>
        </p:nvSpPr>
        <p:spPr>
          <a:xfrm>
            <a:off x="8483600" y="1968500"/>
            <a:ext cx="3098800" cy="33547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28600" indent="-228600">
              <a:spcAft>
                <a:spcPts val="1200"/>
              </a:spcAft>
              <a:buFont typeface="Arial"/>
              <a:buChar char="•"/>
            </a:pPr>
            <a:r>
              <a:rPr lang="en-US" sz="1600" b="0" dirty="0"/>
              <a:t>At the stricter 80% line the gap </a:t>
            </a:r>
            <a:r>
              <a:rPr lang="en-US" sz="1600" b="1" dirty="0"/>
              <a:t>widens in all four bands</a:t>
            </a:r>
            <a:r>
              <a:rPr lang="en-US" sz="1600" b="0" dirty="0"/>
              <a:t>, to 2.53–3.58 points.</a:t>
            </a:r>
          </a:p>
          <a:p>
            <a:pPr marL="228600" indent="-228600">
              <a:spcAft>
                <a:spcPts val="1200"/>
              </a:spcAft>
              <a:buFont typeface="Arial"/>
              <a:buChar char="•"/>
            </a:pPr>
            <a:r>
              <a:rPr lang="en-US" sz="1600" b="0" dirty="0"/>
              <a:t>The below-cutoff group shrinks from </a:t>
            </a:r>
            <a:r>
              <a:rPr lang="en-US" sz="1600" b="1" dirty="0"/>
              <a:t>121,238</a:t>
            </a:r>
            <a:r>
              <a:rPr lang="en-US" sz="1600" b="0" dirty="0"/>
              <a:t> applications (100% cutoff) to </a:t>
            </a:r>
            <a:r>
              <a:rPr lang="en-US" sz="1600" b="1" dirty="0"/>
              <a:t>49,271</a:t>
            </a:r>
            <a:r>
              <a:rPr lang="en-US" sz="1600" b="0" dirty="0"/>
              <a:t> (80% cutoff). These are two group definitions, not a before-and-after change.</a:t>
            </a:r>
          </a:p>
          <a:p>
            <a:pPr marL="228600" indent="-228600">
              <a:spcAft>
                <a:spcPts val="1200"/>
              </a:spcAft>
              <a:buFont typeface="Arial"/>
              <a:buChar char="•"/>
            </a:pPr>
            <a:r>
              <a:rPr lang="en-US" sz="1600" b="0" dirty="0"/>
              <a:t>The gap persists at both tested cutoffs; the check does not explain the cause.</a:t>
            </a:r>
          </a:p>
        </p:txBody>
      </p:sp>
      <p:sp>
        <p:nvSpPr>
          <p:cNvPr id="6" name="Footnote">
            <a:extLst>
              <a:ext uri="{FF2B5EF4-FFF2-40B4-BE49-F238E27FC236}">
                <a16:creationId xmlns:a16="http://schemas.microsoft.com/office/drawing/2014/main" id="{3A4B9D7A-011C-A647-AE3F-51226FC225CB}"/>
              </a:ext>
            </a:extLst>
          </p:cNvPr>
          <p:cNvSpPr txBox="1"/>
          <p:nvPr/>
        </p:nvSpPr>
        <p:spPr>
          <a:xfrm>
            <a:off x="609600" y="5969000"/>
            <a:ext cx="109728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</a:rPr>
              <a:t>Same 313,643 decided applications as the main comparison; only the tract-income threshold changes. Source: FFIEC HMDA 2018–2025; author's analysis.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72B276-275E-67E7-26A7-1EDF59785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14500"/>
            <a:ext cx="7158181" cy="393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2529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333"/>
    </mc:Choice>
    <mc:Fallback>
      <p:transition spd="slow" advTm="7033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5AA58-E3F3-2DAF-B00F-21CD2628E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55600"/>
            <a:ext cx="10972800" cy="1143000"/>
          </a:xfrm>
        </p:spPr>
        <p:txBody>
          <a:bodyPr/>
          <a:lstStyle/>
          <a:p>
            <a:r>
              <a:rPr lang="en-US" dirty="0"/>
              <a:t>Under-$50,000 denials climbed after 2021</a:t>
            </a:r>
          </a:p>
        </p:txBody>
      </p:sp>
      <p:sp>
        <p:nvSpPr>
          <p:cNvPr id="3" name="Commentary">
            <a:extLst>
              <a:ext uri="{FF2B5EF4-FFF2-40B4-BE49-F238E27FC236}">
                <a16:creationId xmlns:a16="http://schemas.microsoft.com/office/drawing/2014/main" id="{1F65092D-8C4E-F240-826D-1B81AFDCAA4F}"/>
              </a:ext>
            </a:extLst>
          </p:cNvPr>
          <p:cNvSpPr txBox="1"/>
          <p:nvPr/>
        </p:nvSpPr>
        <p:spPr>
          <a:xfrm>
            <a:off x="7493000" y="1968500"/>
            <a:ext cx="4089400" cy="261610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28600" indent="-228600">
              <a:spcAft>
                <a:spcPts val="1200"/>
              </a:spcAft>
              <a:buFont typeface="Arial"/>
              <a:buChar char="•"/>
            </a:pPr>
            <a:r>
              <a:rPr lang="en-US" sz="1600" b="1" dirty="0"/>
              <a:t>Combining both tract groups, </a:t>
            </a:r>
            <a:r>
              <a:rPr lang="en-US" sz="1600" b="0" dirty="0"/>
              <a:t>the under-$50,000 denial rate rose from 15.92% in 2021 to 25.27% in 2023 and 25.83% in 2025.</a:t>
            </a:r>
          </a:p>
          <a:p>
            <a:pPr marL="228600" indent="-228600">
              <a:spcAft>
                <a:spcPts val="1200"/>
              </a:spcAft>
              <a:buFont typeface="Arial"/>
              <a:buChar char="•"/>
            </a:pPr>
            <a:r>
              <a:rPr lang="en-US" sz="1600" b="1" dirty="0"/>
              <a:t>Gap reversed in two years: </a:t>
            </a:r>
            <a:r>
              <a:rPr lang="en-US" sz="1600" b="0" dirty="0"/>
              <a:t>below minus at/above was about -0.08 points in 2022 and -3.07 points in 2025.</a:t>
            </a:r>
          </a:p>
          <a:p>
            <a:pPr marL="228600" indent="-228600">
              <a:spcAft>
                <a:spcPts val="1200"/>
              </a:spcAft>
              <a:buFont typeface="Arial"/>
              <a:buChar char="•"/>
            </a:pPr>
            <a:r>
              <a:rPr lang="en-US" sz="1600" b="0" dirty="0"/>
              <a:t>Applicant mix and lending conditions may have changed; the fields analyzed here cannot isolate the reason.</a:t>
            </a:r>
          </a:p>
        </p:txBody>
      </p:sp>
      <p:sp>
        <p:nvSpPr>
          <p:cNvPr id="4" name="Footnote">
            <a:extLst>
              <a:ext uri="{FF2B5EF4-FFF2-40B4-BE49-F238E27FC236}">
                <a16:creationId xmlns:a16="http://schemas.microsoft.com/office/drawing/2014/main" id="{31A04BF8-B80A-5D4C-AB71-A50C4E0F7549}"/>
              </a:ext>
            </a:extLst>
          </p:cNvPr>
          <p:cNvSpPr txBox="1"/>
          <p:nvPr/>
        </p:nvSpPr>
        <p:spPr>
          <a:xfrm>
            <a:off x="609600" y="5969000"/>
            <a:ext cx="109728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</a:rPr>
              <a:t>Annual denial rates by tract group within each applicant-income band, 313,643 retained records. Interest rates are not analyzed: the field is missing or exempt for all denied records. Source: FFIEC HMDA 2018–2025; author's analysis.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84E976-BA53-EF79-2C2C-924293D88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335" y="1381032"/>
            <a:ext cx="7209665" cy="4587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2599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2704"/>
    </mc:Choice>
    <mc:Fallback>
      <p:transition spd="slow" advTm="132704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26936-A646-1F42-4DF1-370B6C832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55600"/>
            <a:ext cx="10972800" cy="1143000"/>
          </a:xfrm>
        </p:spPr>
        <p:txBody>
          <a:bodyPr>
            <a:normAutofit/>
          </a:bodyPr>
          <a:lstStyle/>
          <a:p>
            <a:r>
              <a:rPr lang="en-US" dirty="0"/>
              <a:t>467,521 source records became 313,643 compared</a:t>
            </a:r>
          </a:p>
        </p:txBody>
      </p:sp>
      <p:sp>
        <p:nvSpPr>
          <p:cNvPr id="10" name="Shape 10"/>
          <p:cNvSpPr/>
          <p:nvPr/>
        </p:nvSpPr>
        <p:spPr>
          <a:xfrm>
            <a:off x="609600" y="1905000"/>
            <a:ext cx="2438400" cy="177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6"/>
            </a:solidFill>
          </a:ln>
        </p:spPr>
        <p:txBody>
          <a:bodyPr wrap="square" lIns="152400" tIns="152400" rIns="152400" bIns="152400" rtlCol="0" anchor="t">
            <a:normAutofit/>
          </a:bodyPr>
          <a:lstStyle/>
          <a:p>
            <a:pPr algn="l"/>
            <a:r>
              <a:rPr lang="en-US" sz="2800" b="1" dirty="0">
                <a:solidFill>
                  <a:srgbClr val="2E5E8C"/>
                </a:solidFill>
              </a:rPr>
              <a:t>467,521</a:t>
            </a:r>
          </a:p>
          <a:p>
            <a:pPr algn="l"/>
            <a:r>
              <a:rPr lang="en-US" sz="1400" b="0" dirty="0">
                <a:solidFill>
                  <a:srgbClr val="1F2933"/>
                </a:solidFill>
              </a:rPr>
              <a:t>Source records in eight annual FFIEC Kansas home-purchase files, 2018–2025</a:t>
            </a:r>
          </a:p>
        </p:txBody>
      </p:sp>
      <p:sp>
        <p:nvSpPr>
          <p:cNvPr id="11" name="Shape 11"/>
          <p:cNvSpPr/>
          <p:nvPr/>
        </p:nvSpPr>
        <p:spPr>
          <a:xfrm>
            <a:off x="3124200" y="2667000"/>
            <a:ext cx="254000" cy="254000"/>
          </a:xfrm>
          <a:prstGeom prst="rightArrow">
            <a:avLst/>
          </a:prstGeom>
          <a:solidFill>
            <a:srgbClr val="9AA5B1"/>
          </a:solidFill>
          <a:ln>
            <a:noFill/>
          </a:ln>
        </p:spPr>
        <p:txBody>
          <a:bodyPr wrap="square" lIns="127000" tIns="127000" rIns="127000" bIns="127000" rtlCol="0" anchor="ctr">
            <a:normAutofit fontScale="25000" lnSpcReduction="20000"/>
          </a:bodyPr>
          <a:lstStyle/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3454400" y="1905000"/>
            <a:ext cx="2438400" cy="177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6"/>
            </a:solidFill>
          </a:ln>
        </p:spPr>
        <p:txBody>
          <a:bodyPr wrap="square" lIns="152400" tIns="152400" rIns="152400" bIns="152400" rtlCol="0" anchor="t">
            <a:normAutofit/>
          </a:bodyPr>
          <a:lstStyle/>
          <a:p>
            <a:pPr algn="l"/>
            <a:r>
              <a:rPr lang="en-US" sz="2800" b="1" dirty="0">
                <a:solidFill>
                  <a:srgbClr val="2E5E8C"/>
                </a:solidFill>
              </a:rPr>
              <a:t>335,302</a:t>
            </a:r>
          </a:p>
          <a:p>
            <a:pPr algn="l"/>
            <a:r>
              <a:rPr lang="en-US" sz="1400" b="0" dirty="0">
                <a:solidFill>
                  <a:srgbClr val="1F2933"/>
                </a:solidFill>
              </a:rPr>
              <a:t>Received a lending decision: approved, approved but not accepted, or denied</a:t>
            </a:r>
          </a:p>
        </p:txBody>
      </p:sp>
      <p:sp>
        <p:nvSpPr>
          <p:cNvPr id="13" name="Shape 13"/>
          <p:cNvSpPr/>
          <p:nvPr/>
        </p:nvSpPr>
        <p:spPr>
          <a:xfrm>
            <a:off x="5969000" y="2667000"/>
            <a:ext cx="254000" cy="254000"/>
          </a:xfrm>
          <a:prstGeom prst="rightArrow">
            <a:avLst/>
          </a:prstGeom>
          <a:solidFill>
            <a:srgbClr val="9AA5B1"/>
          </a:solidFill>
          <a:ln>
            <a:noFill/>
          </a:ln>
        </p:spPr>
        <p:txBody>
          <a:bodyPr wrap="square" lIns="127000" tIns="127000" rIns="127000" bIns="127000" rtlCol="0" anchor="ctr">
            <a:normAutofit fontScale="25000" lnSpcReduction="20000"/>
          </a:bodyPr>
          <a:lstStyle/>
          <a:p>
            <a:endParaRPr/>
          </a:p>
        </p:txBody>
      </p:sp>
      <p:sp>
        <p:nvSpPr>
          <p:cNvPr id="14" name="Shape 14"/>
          <p:cNvSpPr/>
          <p:nvPr/>
        </p:nvSpPr>
        <p:spPr>
          <a:xfrm>
            <a:off x="3454400" y="3784600"/>
            <a:ext cx="2438400" cy="10668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rtlCol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C47F3B"/>
                </a:solidFill>
              </a:rPr>
              <a:t>↓ </a:t>
            </a:r>
            <a:r>
              <a:rPr lang="en-US" sz="1400" b="0" dirty="0">
                <a:solidFill>
                  <a:srgbClr val="52606D"/>
                </a:solidFill>
              </a:rPr>
              <a:t>Excluded 132,219 records outside the origination, approved-not-accepted, and denial outcomes</a:t>
            </a:r>
          </a:p>
        </p:txBody>
      </p:sp>
      <p:sp>
        <p:nvSpPr>
          <p:cNvPr id="15" name="Shape 15"/>
          <p:cNvSpPr/>
          <p:nvPr/>
        </p:nvSpPr>
        <p:spPr>
          <a:xfrm>
            <a:off x="6299200" y="1905000"/>
            <a:ext cx="2438400" cy="177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FD6"/>
            </a:solidFill>
          </a:ln>
        </p:spPr>
        <p:txBody>
          <a:bodyPr wrap="square" lIns="152400" tIns="152400" rIns="152400" bIns="152400" rtlCol="0" anchor="t">
            <a:normAutofit/>
          </a:bodyPr>
          <a:lstStyle/>
          <a:p>
            <a:pPr algn="l"/>
            <a:r>
              <a:rPr lang="en-US" sz="2800" b="1" dirty="0">
                <a:solidFill>
                  <a:srgbClr val="2E5E8C"/>
                </a:solidFill>
              </a:rPr>
              <a:t>331,553</a:t>
            </a:r>
          </a:p>
          <a:p>
            <a:pPr algn="l"/>
            <a:r>
              <a:rPr lang="en-US" sz="1400" b="0" dirty="0">
                <a:solidFill>
                  <a:srgbClr val="1F2933"/>
                </a:solidFill>
              </a:rPr>
              <a:t>Have a positive tract-income percentage, so a tract group can be assigned</a:t>
            </a:r>
          </a:p>
        </p:txBody>
      </p:sp>
      <p:sp>
        <p:nvSpPr>
          <p:cNvPr id="16" name="Shape 16"/>
          <p:cNvSpPr/>
          <p:nvPr/>
        </p:nvSpPr>
        <p:spPr>
          <a:xfrm>
            <a:off x="8813800" y="2667000"/>
            <a:ext cx="254000" cy="254000"/>
          </a:xfrm>
          <a:prstGeom prst="rightArrow">
            <a:avLst/>
          </a:prstGeom>
          <a:solidFill>
            <a:srgbClr val="9AA5B1"/>
          </a:solidFill>
          <a:ln>
            <a:noFill/>
          </a:ln>
        </p:spPr>
        <p:txBody>
          <a:bodyPr wrap="square" lIns="127000" tIns="127000" rIns="127000" bIns="127000" rtlCol="0" anchor="ctr">
            <a:normAutofit fontScale="25000" lnSpcReduction="20000"/>
          </a:bodyPr>
          <a:lstStyle/>
          <a:p>
            <a:endParaRPr/>
          </a:p>
        </p:txBody>
      </p:sp>
      <p:sp>
        <p:nvSpPr>
          <p:cNvPr id="17" name="Shape 17"/>
          <p:cNvSpPr/>
          <p:nvPr/>
        </p:nvSpPr>
        <p:spPr>
          <a:xfrm>
            <a:off x="6299200" y="3784600"/>
            <a:ext cx="2438400" cy="10668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rtlCol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C47F3B"/>
                </a:solidFill>
              </a:rPr>
              <a:t>↓ </a:t>
            </a:r>
            <a:r>
              <a:rPr lang="en-US" sz="1400" b="0" dirty="0">
                <a:solidFill>
                  <a:srgbClr val="52606D"/>
                </a:solidFill>
              </a:rPr>
              <a:t>Removed 3,749 records with a zero tract-income percentage; 1,773 of them were denied (47.3%)</a:t>
            </a:r>
          </a:p>
        </p:txBody>
      </p:sp>
      <p:sp>
        <p:nvSpPr>
          <p:cNvPr id="18" name="Shape 18"/>
          <p:cNvSpPr/>
          <p:nvPr/>
        </p:nvSpPr>
        <p:spPr>
          <a:xfrm>
            <a:off x="9144000" y="1905000"/>
            <a:ext cx="2438400" cy="1778000"/>
          </a:xfrm>
          <a:prstGeom prst="rect">
            <a:avLst/>
          </a:prstGeom>
          <a:solidFill>
            <a:srgbClr val="2E5E8C"/>
          </a:solidFill>
          <a:ln>
            <a:noFill/>
          </a:ln>
        </p:spPr>
        <p:txBody>
          <a:bodyPr wrap="square" lIns="152400" tIns="152400" rIns="152400" bIns="152400" rtlCol="0" anchor="t">
            <a:normAutofit/>
          </a:bodyPr>
          <a:lstStyle/>
          <a:p>
            <a:pPr algn="l"/>
            <a:r>
              <a:rPr lang="en-US" sz="2800" b="1" dirty="0">
                <a:solidFill>
                  <a:srgbClr val="FFFFFF"/>
                </a:solidFill>
              </a:rPr>
              <a:t>313,643</a:t>
            </a:r>
          </a:p>
          <a:p>
            <a:pPr algn="l"/>
            <a:r>
              <a:rPr lang="en-US" sz="1400" b="0" dirty="0">
                <a:solidFill>
                  <a:srgbClr val="FFFFFF"/>
                </a:solidFill>
              </a:rPr>
              <a:t>Also report applicant income: the final within-band comparison group</a:t>
            </a:r>
          </a:p>
        </p:txBody>
      </p:sp>
      <p:sp>
        <p:nvSpPr>
          <p:cNvPr id="19" name="Shape 19"/>
          <p:cNvSpPr/>
          <p:nvPr/>
        </p:nvSpPr>
        <p:spPr>
          <a:xfrm>
            <a:off x="9144000" y="3784600"/>
            <a:ext cx="2438400" cy="10668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rtlCol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C47F3B"/>
                </a:solidFill>
              </a:rPr>
              <a:t>↓ </a:t>
            </a:r>
            <a:r>
              <a:rPr lang="en-US" sz="1400" b="0" dirty="0">
                <a:solidFill>
                  <a:srgbClr val="52606D"/>
                </a:solidFill>
              </a:rPr>
              <a:t>Removed 17,910 records with missing applicant income</a:t>
            </a:r>
          </a:p>
        </p:txBody>
      </p:sp>
      <p:sp>
        <p:nvSpPr>
          <p:cNvPr id="20" name="Shape 20"/>
          <p:cNvSpPr/>
          <p:nvPr/>
        </p:nvSpPr>
        <p:spPr>
          <a:xfrm>
            <a:off x="609600" y="4978400"/>
            <a:ext cx="10972800" cy="11176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rtlCol="0" anchor="t">
            <a:normAutofit/>
          </a:bodyPr>
          <a:lstStyle/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 sz="1600" b="0" dirty="0">
                <a:solidFill>
                  <a:srgbClr val="1F2933"/>
                </a:solidFill>
              </a:rPr>
              <a:t>The excluded zero-tract records were denied </a:t>
            </a:r>
            <a:r>
              <a:rPr lang="en-US" sz="1600" b="1" dirty="0">
                <a:solidFill>
                  <a:srgbClr val="1F2933"/>
                </a:solidFill>
              </a:rPr>
              <a:t>47.3%</a:t>
            </a:r>
            <a:r>
              <a:rPr lang="en-US" sz="1600" b="0" dirty="0">
                <a:solidFill>
                  <a:srgbClr val="1F2933"/>
                </a:solidFill>
              </a:rPr>
              <a:t> of the time, far above the retained group; the result does not describe them.</a:t>
            </a:r>
          </a:p>
        </p:txBody>
      </p:sp>
      <p:sp>
        <p:nvSpPr>
          <p:cNvPr id="21" name="Shape 21"/>
          <p:cNvSpPr/>
          <p:nvPr/>
        </p:nvSpPr>
        <p:spPr>
          <a:xfrm>
            <a:off x="609600" y="6172200"/>
            <a:ext cx="109728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rtlCol="0" anchor="t">
            <a:normAutofit fontScale="92500"/>
          </a:bodyPr>
          <a:lstStyle/>
          <a:p>
            <a:pPr algn="l"/>
            <a:r>
              <a:rPr lang="en-US" sz="1100" b="0" dirty="0">
                <a:solidFill>
                  <a:srgbClr val="52606D"/>
                </a:solidFill>
              </a:rPr>
              <a:t>Counts are sequential: each exclusion is measured against the step before it. Repeated identical rows were kept; they are not proven duplicates. Source: FFIEC HMDA 2018–2025; author's analysis.</a:t>
            </a:r>
          </a:p>
        </p:txBody>
      </p:sp>
    </p:spTree>
    <p:extLst>
      <p:ext uri="{BB962C8B-B14F-4D97-AF65-F5344CB8AC3E}">
        <p14:creationId xmlns:p14="http://schemas.microsoft.com/office/powerpoint/2010/main" val="5534113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6000"/>
    </mc:Choice>
    <mc:Fallback>
      <p:transition spd="slow" advTm="146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40252-37A0-0963-D54B-552BF0EE1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55600"/>
            <a:ext cx="10972800" cy="1143000"/>
          </a:xfrm>
        </p:spPr>
        <p:txBody>
          <a:bodyPr/>
          <a:lstStyle/>
          <a:p>
            <a:r>
              <a:rPr lang="en-US" dirty="0"/>
              <a:t>The gap is real; its cause is not established</a:t>
            </a:r>
          </a:p>
        </p:txBody>
      </p:sp>
      <p:sp>
        <p:nvSpPr>
          <p:cNvPr id="10" name="Shape 10"/>
          <p:cNvSpPr/>
          <p:nvPr/>
        </p:nvSpPr>
        <p:spPr>
          <a:xfrm>
            <a:off x="609600" y="1778000"/>
            <a:ext cx="5334000" cy="76200"/>
          </a:xfrm>
          <a:prstGeom prst="rect">
            <a:avLst/>
          </a:prstGeom>
          <a:solidFill>
            <a:srgbClr val="2E5E8C"/>
          </a:solidFill>
          <a:ln>
            <a:noFill/>
          </a:ln>
        </p:spPr>
        <p:txBody>
          <a:bodyPr wrap="square" lIns="0" tIns="0" rIns="0" bIns="0" rtlCol="0" anchor="t">
            <a:normAutofit fontScale="32500" lnSpcReduction="20000"/>
          </a:bodyPr>
          <a:lstStyle/>
          <a:p>
            <a:endParaRPr/>
          </a:p>
        </p:txBody>
      </p:sp>
      <p:sp>
        <p:nvSpPr>
          <p:cNvPr id="11" name="Shape 11"/>
          <p:cNvSpPr/>
          <p:nvPr/>
        </p:nvSpPr>
        <p:spPr>
          <a:xfrm>
            <a:off x="609600" y="1930400"/>
            <a:ext cx="5334000" cy="419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152400" rIns="152400" bIns="152400" rtlCol="0" anchor="t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2000" b="1" dirty="0">
                <a:solidFill>
                  <a:srgbClr val="2E5E8C"/>
                </a:solidFill>
              </a:rPr>
              <a:t>What the records show</a:t>
            </a:r>
          </a:p>
          <a:p>
            <a:pPr marL="228600" indent="-228600">
              <a:spcAft>
                <a:spcPts val="900"/>
              </a:spcAft>
              <a:buFont typeface="Arial"/>
              <a:buChar char="•"/>
            </a:pPr>
            <a:r>
              <a:rPr lang="en-US" sz="1800" b="0" dirty="0">
                <a:solidFill>
                  <a:srgbClr val="1F2933"/>
                </a:solidFill>
              </a:rPr>
              <a:t>Within each applicant-income band, below-median tracts had denial rates </a:t>
            </a:r>
            <a:r>
              <a:rPr lang="en-US" sz="1800" b="1" dirty="0">
                <a:solidFill>
                  <a:srgbClr val="1F2933"/>
                </a:solidFill>
              </a:rPr>
              <a:t>2.07–2.95 points higher</a:t>
            </a:r>
            <a:r>
              <a:rPr lang="en-US" sz="1800" b="0" dirty="0">
                <a:solidFill>
                  <a:srgbClr val="1F2933"/>
                </a:solidFill>
              </a:rPr>
              <a:t> across 313,643 decided applications.</a:t>
            </a:r>
          </a:p>
          <a:p>
            <a:pPr marL="228600" indent="-228600">
              <a:spcAft>
                <a:spcPts val="900"/>
              </a:spcAft>
              <a:buFont typeface="Arial"/>
              <a:buChar char="•"/>
            </a:pPr>
            <a:r>
              <a:rPr lang="en-US" sz="1800" b="0" dirty="0">
                <a:solidFill>
                  <a:srgbClr val="1F2933"/>
                </a:solidFill>
              </a:rPr>
              <a:t>The gap holds at an 80% tract cutoff and in a named-metropolitan-area sensitivity comparison.</a:t>
            </a:r>
          </a:p>
          <a:p>
            <a:pPr marL="228600" indent="-228600">
              <a:spcAft>
                <a:spcPts val="900"/>
              </a:spcAft>
              <a:buFont typeface="Arial"/>
              <a:buChar char="•"/>
            </a:pPr>
            <a:r>
              <a:rPr lang="en-US" sz="1800" b="0" dirty="0">
                <a:solidFill>
                  <a:srgbClr val="1F2933"/>
                </a:solidFill>
              </a:rPr>
              <a:t>Annual exceptions exist: the under-$50,000 band's gap was about </a:t>
            </a:r>
            <a:r>
              <a:rPr lang="en-US" sz="1800" b="1" dirty="0">
                <a:solidFill>
                  <a:srgbClr val="1F2933"/>
                </a:solidFill>
              </a:rPr>
              <a:t>–0.08 points in 2022 and –3.07 in 2025</a:t>
            </a:r>
            <a:r>
              <a:rPr lang="en-US" sz="1800" b="0" dirty="0">
                <a:solidFill>
                  <a:srgbClr val="1F2933"/>
                </a:solidFill>
              </a:rPr>
              <a:t>.</a:t>
            </a:r>
          </a:p>
        </p:txBody>
      </p:sp>
      <p:sp>
        <p:nvSpPr>
          <p:cNvPr id="12" name="Shape 12"/>
          <p:cNvSpPr/>
          <p:nvPr/>
        </p:nvSpPr>
        <p:spPr>
          <a:xfrm>
            <a:off x="6248400" y="1778000"/>
            <a:ext cx="5334000" cy="76200"/>
          </a:xfrm>
          <a:prstGeom prst="rect">
            <a:avLst/>
          </a:prstGeom>
          <a:solidFill>
            <a:srgbClr val="9AA5B1"/>
          </a:solidFill>
          <a:ln>
            <a:noFill/>
          </a:ln>
        </p:spPr>
        <p:txBody>
          <a:bodyPr wrap="square" lIns="0" tIns="0" rIns="0" bIns="0" rtlCol="0" anchor="t">
            <a:normAutofit fontScale="32500" lnSpcReduction="20000"/>
          </a:bodyPr>
          <a:lstStyle/>
          <a:p>
            <a:endParaRPr/>
          </a:p>
        </p:txBody>
      </p:sp>
      <p:sp>
        <p:nvSpPr>
          <p:cNvPr id="13" name="Shape 13"/>
          <p:cNvSpPr/>
          <p:nvPr/>
        </p:nvSpPr>
        <p:spPr>
          <a:xfrm>
            <a:off x="6248400" y="1930400"/>
            <a:ext cx="5334000" cy="41910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152400" rIns="152400" bIns="152400" rtlCol="0" anchor="t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2000" b="1" dirty="0">
                <a:solidFill>
                  <a:srgbClr val="52606D"/>
                </a:solidFill>
              </a:rPr>
              <a:t>What they do not establish</a:t>
            </a:r>
          </a:p>
          <a:p>
            <a:pPr marL="228600" indent="-228600">
              <a:spcAft>
                <a:spcPts val="900"/>
              </a:spcAft>
              <a:buFont typeface="Arial"/>
              <a:buChar char="•"/>
            </a:pPr>
            <a:r>
              <a:rPr lang="en-US" sz="1800" b="1" dirty="0">
                <a:solidFill>
                  <a:srgbClr val="1F2933"/>
                </a:solidFill>
              </a:rPr>
              <a:t>Why. </a:t>
            </a:r>
            <a:r>
              <a:rPr lang="en-US" sz="1800" b="0" dirty="0">
                <a:solidFill>
                  <a:srgbClr val="1F2933"/>
                </a:solidFill>
              </a:rPr>
              <a:t>Credit history, debt-to-income ratio, loan terms, and lender were outside the scope of this analysis. This association does not establish discrimination or a causal neighborhood effect.</a:t>
            </a:r>
          </a:p>
          <a:p>
            <a:pPr marL="228600" indent="-228600">
              <a:spcAft>
                <a:spcPts val="900"/>
              </a:spcAft>
              <a:buFont typeface="Arial"/>
              <a:buChar char="•"/>
            </a:pPr>
            <a:r>
              <a:rPr lang="en-US" sz="1800" b="1" dirty="0">
                <a:solidFill>
                  <a:srgbClr val="1F2933"/>
                </a:solidFill>
              </a:rPr>
              <a:t>Like-for-like applicants. </a:t>
            </a:r>
            <a:r>
              <a:rPr lang="en-US" sz="1800" b="0" dirty="0">
                <a:solidFill>
                  <a:srgbClr val="1F2933"/>
                </a:solidFill>
              </a:rPr>
              <a:t>Broad income bands hide variation inside each band.</a:t>
            </a:r>
          </a:p>
          <a:p>
            <a:pPr marL="228600" indent="-228600">
              <a:spcAft>
                <a:spcPts val="900"/>
              </a:spcAft>
              <a:buFont typeface="Arial"/>
              <a:buChar char="•"/>
            </a:pPr>
            <a:r>
              <a:rPr lang="en-US" sz="1800" b="1" dirty="0">
                <a:solidFill>
                  <a:srgbClr val="1F2933"/>
                </a:solidFill>
              </a:rPr>
              <a:t>Who is counted. </a:t>
            </a:r>
            <a:r>
              <a:rPr lang="en-US" sz="1800" b="0" dirty="0">
                <a:solidFill>
                  <a:srgbClr val="1F2933"/>
                </a:solidFill>
              </a:rPr>
              <a:t>Excluding missing-income and zero-tract records changes who the result describes.</a:t>
            </a:r>
          </a:p>
        </p:txBody>
      </p:sp>
      <p:sp>
        <p:nvSpPr>
          <p:cNvPr id="14" name="Shape 14"/>
          <p:cNvSpPr/>
          <p:nvPr/>
        </p:nvSpPr>
        <p:spPr>
          <a:xfrm>
            <a:off x="609600" y="6172200"/>
            <a:ext cx="109728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rtlCol="0" anchor="t">
            <a:normAutofit/>
          </a:bodyPr>
          <a:lstStyle/>
          <a:p>
            <a:r>
              <a:rPr lang="en-US" sz="1100" b="0" dirty="0">
                <a:solidFill>
                  <a:srgbClr val="52606D"/>
                </a:solidFill>
              </a:rPr>
              <a:t>Tract-income reference for non-metropolitan code 99999 not yet confirmed as uniform. Source: FFIEC HMDA 2018–2025; author's analysis.</a:t>
            </a:r>
          </a:p>
        </p:txBody>
      </p:sp>
    </p:spTree>
    <p:extLst>
      <p:ext uri="{BB962C8B-B14F-4D97-AF65-F5344CB8AC3E}">
        <p14:creationId xmlns:p14="http://schemas.microsoft.com/office/powerpoint/2010/main" val="21359127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7016"/>
    </mc:Choice>
    <mc:Fallback>
      <p:transition spd="slow" advTm="47016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0D974-43DB-76EF-7EC4-0E9210532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55600"/>
            <a:ext cx="10972800" cy="1143000"/>
          </a:xfrm>
        </p:spPr>
        <p:txBody>
          <a:bodyPr/>
          <a:lstStyle/>
          <a:p>
            <a:r>
              <a:rPr lang="en-US" dirty="0"/>
              <a:t>Investigate the gap before intervening</a:t>
            </a:r>
          </a:p>
        </p:txBody>
      </p:sp>
      <p:sp>
        <p:nvSpPr>
          <p:cNvPr id="10" name="Shape 10"/>
          <p:cNvSpPr/>
          <p:nvPr/>
        </p:nvSpPr>
        <p:spPr>
          <a:xfrm>
            <a:off x="609600" y="1778000"/>
            <a:ext cx="10972800" cy="1219200"/>
          </a:xfrm>
          <a:prstGeom prst="rect">
            <a:avLst/>
          </a:prstGeom>
          <a:solidFill>
            <a:srgbClr val="2E5E8C"/>
          </a:solidFill>
          <a:ln>
            <a:noFill/>
          </a:ln>
        </p:spPr>
        <p:txBody>
          <a:bodyPr wrap="square" lIns="228600" tIns="228600" rIns="228600" bIns="228600" rtlCol="0" anchor="ctr">
            <a:normAutofit lnSpcReduction="10000"/>
          </a:bodyPr>
          <a:lstStyle/>
          <a:p>
            <a:r>
              <a:rPr lang="en-US" sz="1800" b="1" dirty="0">
                <a:solidFill>
                  <a:srgbClr val="FFFFFF"/>
                </a:solidFill>
              </a:rPr>
              <a:t>Main result: </a:t>
            </a:r>
            <a:r>
              <a:rPr lang="en-US" sz="1800" b="0" dirty="0">
                <a:solidFill>
                  <a:srgbClr val="FFFFFF"/>
                </a:solidFill>
              </a:rPr>
              <a:t>within each pooled applicant-income band, Kansas home-purchase applications in below-median-income tracts were denied 2.07–2.95 percentage points more often (2018–2025). The pattern was not constant every year, and it describes only the 313,643 retained records.</a:t>
            </a:r>
          </a:p>
        </p:txBody>
      </p:sp>
      <p:sp>
        <p:nvSpPr>
          <p:cNvPr id="11" name="Shape 11"/>
          <p:cNvSpPr/>
          <p:nvPr/>
        </p:nvSpPr>
        <p:spPr>
          <a:xfrm>
            <a:off x="609600" y="3251200"/>
            <a:ext cx="5334000" cy="28448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152400" rIns="152400" bIns="152400" rtlCol="0" anchor="t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1800" b="1" dirty="0">
                <a:solidFill>
                  <a:srgbClr val="2E5E8C"/>
                </a:solidFill>
              </a:rPr>
              <a:t>Recommendation</a:t>
            </a:r>
          </a:p>
          <a:p>
            <a:pPr marL="228600" indent="-228600">
              <a:spcAft>
                <a:spcPts val="900"/>
              </a:spcAft>
              <a:buFont typeface="Arial"/>
              <a:buChar char="•"/>
            </a:pPr>
            <a:r>
              <a:rPr lang="en-US" sz="1600" b="0" dirty="0">
                <a:solidFill>
                  <a:srgbClr val="1F2933"/>
                </a:solidFill>
              </a:rPr>
              <a:t>Treat the recurring within-band gap as grounds for a </a:t>
            </a:r>
            <a:r>
              <a:rPr lang="en-US" sz="1600" b="1" dirty="0">
                <a:solidFill>
                  <a:srgbClr val="1F2933"/>
                </a:solidFill>
              </a:rPr>
              <a:t>deeper review</a:t>
            </a:r>
            <a:r>
              <a:rPr lang="en-US" sz="1600" b="0" dirty="0">
                <a:solidFill>
                  <a:srgbClr val="1F2933"/>
                </a:solidFill>
              </a:rPr>
              <a:t>, not a causal or fairness verdict.</a:t>
            </a:r>
          </a:p>
          <a:p>
            <a:pPr marL="228600" indent="-228600">
              <a:spcAft>
                <a:spcPts val="900"/>
              </a:spcAft>
              <a:buFont typeface="Arial"/>
              <a:buChar char="•"/>
            </a:pPr>
            <a:r>
              <a:rPr lang="en-US" sz="1600" b="0" dirty="0">
                <a:solidFill>
                  <a:srgbClr val="1F2933"/>
                </a:solidFill>
              </a:rPr>
              <a:t>Do not change lending policy on this analysis alone.</a:t>
            </a:r>
          </a:p>
        </p:txBody>
      </p:sp>
      <p:sp>
        <p:nvSpPr>
          <p:cNvPr id="12" name="Shape 12"/>
          <p:cNvSpPr/>
          <p:nvPr/>
        </p:nvSpPr>
        <p:spPr>
          <a:xfrm>
            <a:off x="6248400" y="3251200"/>
            <a:ext cx="5334000" cy="2844800"/>
          </a:xfrm>
          <a:prstGeom prst="rect">
            <a:avLst/>
          </a:prstGeom>
          <a:noFill/>
          <a:ln>
            <a:noFill/>
          </a:ln>
        </p:spPr>
        <p:txBody>
          <a:bodyPr wrap="square" lIns="152400" tIns="152400" rIns="152400" bIns="152400" rtlCol="0" anchor="t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1800" b="1" dirty="0">
                <a:solidFill>
                  <a:srgbClr val="2E5E8C"/>
                </a:solidFill>
              </a:rPr>
              <a:t>Next steps</a:t>
            </a:r>
          </a:p>
          <a:p>
            <a:pPr marL="228600" indent="-228600">
              <a:spcAft>
                <a:spcPts val="900"/>
              </a:spcAft>
              <a:buFont typeface="Arial"/>
              <a:buChar char="•"/>
            </a:pPr>
            <a:r>
              <a:rPr lang="en-US" sz="1600" b="1" dirty="0">
                <a:solidFill>
                  <a:srgbClr val="1F2933"/>
                </a:solidFill>
              </a:rPr>
              <a:t>Narrower applicant-income bands</a:t>
            </a:r>
            <a:r>
              <a:rPr lang="en-US" sz="1600" b="0" dirty="0">
                <a:solidFill>
                  <a:srgbClr val="1F2933"/>
                </a:solidFill>
              </a:rPr>
              <a:t> to test whether the gap survives within finer slices.</a:t>
            </a:r>
          </a:p>
          <a:p>
            <a:pPr marL="228600" indent="-228600">
              <a:spcAft>
                <a:spcPts val="900"/>
              </a:spcAft>
              <a:buFont typeface="Arial"/>
              <a:buChar char="•"/>
            </a:pPr>
            <a:r>
              <a:rPr lang="en-US" sz="1600" b="1" dirty="0">
                <a:solidFill>
                  <a:srgbClr val="1F2933"/>
                </a:solidFill>
              </a:rPr>
              <a:t>Add underwriting, geography, and lender fields</a:t>
            </a:r>
            <a:r>
              <a:rPr lang="en-US" sz="1600" b="0" dirty="0">
                <a:solidFill>
                  <a:srgbClr val="1F2933"/>
                </a:solidFill>
              </a:rPr>
              <a:t> (credit, debt-to-income, loan terms).</a:t>
            </a:r>
          </a:p>
          <a:p>
            <a:pPr marL="228600" indent="-228600">
              <a:spcAft>
                <a:spcPts val="900"/>
              </a:spcAft>
              <a:buFont typeface="Arial"/>
              <a:buChar char="•"/>
            </a:pPr>
            <a:r>
              <a:rPr lang="en-US" sz="1600" b="0" dirty="0">
                <a:solidFill>
                  <a:srgbClr val="1F2933"/>
                </a:solidFill>
              </a:rPr>
              <a:t>Investigate the </a:t>
            </a:r>
            <a:r>
              <a:rPr lang="en-US" sz="1600" b="1" dirty="0">
                <a:solidFill>
                  <a:srgbClr val="1F2933"/>
                </a:solidFill>
              </a:rPr>
              <a:t>under-$50,000 shift after 2021</a:t>
            </a:r>
            <a:r>
              <a:rPr lang="en-US" sz="1600" b="0" dirty="0">
                <a:solidFill>
                  <a:srgbClr val="1F2933"/>
                </a:solidFill>
              </a:rPr>
              <a:t> and the </a:t>
            </a:r>
            <a:r>
              <a:rPr lang="en-US" sz="1600" b="1" dirty="0">
                <a:solidFill>
                  <a:srgbClr val="1F2933"/>
                </a:solidFill>
              </a:rPr>
              <a:t>excluded zero-tract population</a:t>
            </a:r>
            <a:r>
              <a:rPr lang="en-US" sz="1600" b="0" dirty="0">
                <a:solidFill>
                  <a:srgbClr val="1F2933"/>
                </a:solidFill>
              </a:rPr>
              <a:t>.</a:t>
            </a:r>
          </a:p>
        </p:txBody>
      </p:sp>
      <p:sp>
        <p:nvSpPr>
          <p:cNvPr id="13" name="Shape 13"/>
          <p:cNvSpPr/>
          <p:nvPr/>
        </p:nvSpPr>
        <p:spPr>
          <a:xfrm>
            <a:off x="609600" y="6172200"/>
            <a:ext cx="10972800" cy="381000"/>
          </a:xfrm>
          <a:prstGeom prst="rect">
            <a:avLst/>
          </a:prstGeom>
          <a:noFill/>
          <a:ln>
            <a:noFill/>
          </a:ln>
        </p:spPr>
        <p:txBody>
          <a:bodyPr wrap="square" lIns="50800" tIns="50800" rIns="50800" bIns="50800" rtlCol="0" anchor="t">
            <a:normAutofit/>
          </a:bodyPr>
          <a:lstStyle/>
          <a:p>
            <a:r>
              <a:rPr lang="en-US" sz="1100" b="0" dirty="0">
                <a:solidFill>
                  <a:srgbClr val="52606D"/>
                </a:solidFill>
              </a:rPr>
              <a:t>Source: FFIEC HMDA 2018–2025, Kansas home-purchase applications; author's analysis.</a:t>
            </a:r>
          </a:p>
        </p:txBody>
      </p:sp>
    </p:spTree>
    <p:extLst>
      <p:ext uri="{BB962C8B-B14F-4D97-AF65-F5344CB8AC3E}">
        <p14:creationId xmlns:p14="http://schemas.microsoft.com/office/powerpoint/2010/main" val="999227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4933"/>
    </mc:Choice>
    <mc:Fallback>
      <p:transition spd="slow" advTm="94933"/>
    </mc:Fallback>
  </mc:AlternateContent>
</p:sld>
</file>

<file path=ppt/theme/theme1.xml><?xml version="1.0" encoding="utf-8"?>
<a:theme xmlns:a="http://schemas.openxmlformats.org/drawingml/2006/main" name="Office Theme [1792080319470]">
  <a:themeElements>
    <a:clrScheme name="Office">
      <a:dk1>
        <a:srgbClr val="1F2933"/>
      </a:dk1>
      <a:lt1>
        <a:srgbClr val="FBFAF7"/>
      </a:lt1>
      <a:dk2>
        <a:srgbClr val="52606D"/>
      </a:dk2>
      <a:lt2>
        <a:srgbClr val="E4E7EB"/>
      </a:lt2>
      <a:accent1>
        <a:srgbClr val="2E5E8C"/>
      </a:accent1>
      <a:accent2>
        <a:srgbClr val="9AA5B1"/>
      </a:accent2>
      <a:accent3>
        <a:srgbClr val="C47F3B"/>
      </a:accent3>
      <a:accent4>
        <a:srgbClr val="6B8E6B"/>
      </a:accent4>
      <a:accent5>
        <a:srgbClr val="7F8FA6"/>
      </a:accent5>
      <a:accent6>
        <a:srgbClr val="B8C4D0"/>
      </a:accent6>
      <a:hlink>
        <a:srgbClr val="467886"/>
      </a:hlink>
      <a:folHlink>
        <a:srgbClr val="96607D"/>
      </a:folHlink>
    </a:clrScheme>
    <a:fontScheme name="Office">
      <a:majorFont>
        <a:latin typeface="Georgia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9BABB31-7B71-2040-8977-C749F42F64E3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d3f03641-1b26-471e-be90-ccc7d15621a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1592</TotalTime>
  <Words>1095</Words>
  <Application>Microsoft Macintosh PowerPoint</Application>
  <PresentationFormat>Widescreen</PresentationFormat>
  <Paragraphs>63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Georgia</vt:lpstr>
      <vt:lpstr>Office Theme [1792080319470]</vt:lpstr>
      <vt:lpstr>Were home-purchase denials more common in lower-income Kansas neighborhoods?</vt:lpstr>
      <vt:lpstr>Below-median tracts: denials 2–3 points higher</vt:lpstr>
      <vt:lpstr>The tract groups drew different applicant mixes</vt:lpstr>
      <vt:lpstr>The gap holds at an 80% tract-income cutoff too</vt:lpstr>
      <vt:lpstr>Under-$50,000 denials climbed after 2021</vt:lpstr>
      <vt:lpstr>467,521 source records became 313,643 compared</vt:lpstr>
      <vt:lpstr>The gap is real; its cause is not established</vt:lpstr>
      <vt:lpstr>Investigate the gap before intervening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Scott Person</dc:creator>
  <cp:lastModifiedBy>Scott Person</cp:lastModifiedBy>
  <cp:revision>5</cp:revision>
  <dcterms:created xsi:type="dcterms:W3CDTF">2026-10-15T15:50:49Z</dcterms:created>
  <dcterms:modified xsi:type="dcterms:W3CDTF">2026-10-16T18:23:09Z</dcterms:modified>
</cp:coreProperties>
</file>